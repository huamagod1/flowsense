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embeddedFontLs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tVsGjrbnMOQtKqRxteytTXmG/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FD5048-081D-428E-B775-340250D7F2EF}">
  <a:tblStyle styleId="{4DFD5048-081D-428E-B775-340250D7F2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069080" y="0"/>
            <a:ext cx="5074920" cy="51435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0" y="2743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6217920" y="256032"/>
            <a:ext cx="22860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236208" y="256032"/>
            <a:ext cx="2249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INFORMÁTICA Y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TELECOMUNICACIONES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389120" y="1325880"/>
            <a:ext cx="256032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389120" y="17373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Presentación 1: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4389120" y="2514600"/>
            <a:ext cx="4206240" cy="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4389120" y="2697480"/>
            <a:ext cx="4480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FlowSense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de flujo peatonal para fijación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precios de arriendo mediante visión artificial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4320" y="4663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TPY1101 — Taller Aplicado de Programación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Índice / Agenda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28600" y="1005840"/>
            <a:ext cx="384048" cy="384048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228600" y="1005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13232" y="104241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28600" y="1645920"/>
            <a:ext cx="384048" cy="384048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28600" y="1645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13232" y="168249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28600" y="2286000"/>
            <a:ext cx="384048" cy="384048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28600" y="2286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13232" y="232257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Contexto del proyecto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28600" y="2926080"/>
            <a:ext cx="384048" cy="384048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28600" y="2926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13232" y="296265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28600" y="3566160"/>
            <a:ext cx="384048" cy="384048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28600" y="3566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13232" y="360273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Descripción técnica de la solución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28600" y="4206240"/>
            <a:ext cx="384048" cy="384048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28600" y="4206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13232" y="424281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Documentación / Evidencias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TELECOMUNICACIONES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1E1E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lang="en-US" sz="4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394960" y="1828800"/>
            <a:ext cx="3566160" cy="15087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394960" y="1828800"/>
            <a:ext cx="164592" cy="164592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0" y="192024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28600" y="20116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1. Integrantes del grupo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" name="Google Shape;65;p4"/>
          <p:cNvGraphicFramePr/>
          <p:nvPr/>
        </p:nvGraphicFramePr>
        <p:xfrm>
          <a:off x="2286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{4DFD5048-081D-428E-B775-340250D7F2EF}</a:tableStyleId>
              </a:tblPr>
              <a:tblGrid>
                <a:gridCol w="1463050"/>
                <a:gridCol w="2404875"/>
                <a:gridCol w="2404875"/>
                <a:gridCol w="24048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Integrante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Integrante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Integrante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20033556-2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21793777-9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18851233-K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Fernando Andres</a:t>
                      </a:r>
                      <a:r>
                        <a:rPr lang="en-US" sz="11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Fernando Patricio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Octavio Ignacio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Apellidos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Huamanchumo Zuniga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Tapia Labra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Ibañez Abarca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/ Dashboard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/ YOLOv8 / Spring Boot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MySQL / QA / Docs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6" name="Google Shape;66;p4"/>
          <p:cNvSpPr/>
          <p:nvPr/>
        </p:nvSpPr>
        <p:spPr>
          <a:xfrm>
            <a:off x="228600" y="43159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Python 3.11  ·  YOLOv8  ·  Spring Boot 3  ·  React 18  ·  MySQL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TELECOMUNICACIONES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1E1E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lang="en-US" sz="4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394960" y="1828800"/>
            <a:ext cx="3566160" cy="15087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394960" y="1828800"/>
            <a:ext cx="164592" cy="164592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0" y="192024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28600" y="20116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2. Descripción del proyecto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01168" y="804672"/>
            <a:ext cx="4297680" cy="105156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D0D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01168" y="804672"/>
            <a:ext cx="54864" cy="1051560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10896" y="859536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Problema detectado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10896" y="1133856"/>
            <a:ext cx="4133088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Administradores de malls, galerías y ferias fijan precios de arriendo sin datos objetivos de tráfico peatonal por zona. Las soluciones existentes cuestan USD $2.000–$50.000.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626864" y="804672"/>
            <a:ext cx="4297680" cy="105156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D0D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626864" y="804672"/>
            <a:ext cx="54864" cy="1051560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736592" y="859536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Solución esperada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736592" y="1133856"/>
            <a:ext cx="4133088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Plataforma web: administrador sube video MP4 → define zonas sobre el plano → obtiene mapa de calor + métricas comparativas por zona + reporte PDF descargable.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01168" y="1993392"/>
            <a:ext cx="4297680" cy="105156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D0D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01168" y="1993392"/>
            <a:ext cx="54864" cy="105156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10896" y="2048256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10896" y="2322576"/>
            <a:ext cx="4133088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Desarrollar sistema web de análisis de flujo peatonal con YOLOv8 que permita aforar tráfico diferenciado por zona, apoyando la fijación objetiva de precios de arriendo.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626864" y="1993392"/>
            <a:ext cx="4297680" cy="105156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D0D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626864" y="1993392"/>
            <a:ext cx="54864" cy="10515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736592" y="2048256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736592" y="2322576"/>
            <a:ext cx="4133088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OE1: Detectar personas por zona con YOLOv8 segmentado por franja horaria.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OE2: Dashboard comparativo de zonas con exportación PDF.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01168" y="32004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C5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7C5F"/>
                </a:solidFill>
                <a:latin typeface="Calibri"/>
                <a:ea typeface="Calibri"/>
                <a:cs typeface="Calibri"/>
                <a:sym typeface="Calibri"/>
              </a:rPr>
              <a:t>INCLUYE: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005840" y="3200400"/>
            <a:ext cx="1014984" cy="256032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05840" y="3200400"/>
            <a:ext cx="101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MP4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2139696" y="3200400"/>
            <a:ext cx="1837944" cy="256032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666125" y="3182100"/>
            <a:ext cx="231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Zonas configurables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273552" y="3200400"/>
            <a:ext cx="1426464" cy="256032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273552" y="3200400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 sin GPU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407408" y="3200400"/>
            <a:ext cx="1344168" cy="256032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407408" y="3200400"/>
            <a:ext cx="1344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Mapa de calor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541264" y="3200400"/>
            <a:ext cx="1014984" cy="256032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541264" y="3200400"/>
            <a:ext cx="1014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675120" y="3200400"/>
            <a:ext cx="1179576" cy="256032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675120" y="3200400"/>
            <a:ext cx="1179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Reporte PDF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808976" y="3200400"/>
            <a:ext cx="1344168" cy="256032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808976" y="3200400"/>
            <a:ext cx="1344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Multi-recinto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01168" y="359359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NO INCLUYE: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280160" y="3593592"/>
            <a:ext cx="1179576" cy="256032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280160" y="3593592"/>
            <a:ext cx="1179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Tiempo real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962656" y="3593592"/>
            <a:ext cx="2002536" cy="256032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962656" y="3593592"/>
            <a:ext cx="2002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Reconocimiento facial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645152" y="3593592"/>
            <a:ext cx="1014984" cy="256032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645152" y="3593592"/>
            <a:ext cx="1014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móvil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327648" y="3593592"/>
            <a:ext cx="1508760" cy="256032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327648" y="3593592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 POS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TELECOMUNICACIONES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1E1E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lang="en-US" sz="4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394960" y="1828800"/>
            <a:ext cx="3566160" cy="15087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394960" y="1828800"/>
            <a:ext cx="164592" cy="164592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486400" y="192024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del proyecto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28600" y="20116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3. Contexto del proyecto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01168" y="777240"/>
            <a:ext cx="2834640" cy="13258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01168" y="777240"/>
            <a:ext cx="2834640" cy="54864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92608" y="85953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264 malls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92608" y="118872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centros comerciales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92608" y="1408176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6,56M m² arrendables en Chile.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Precio por pasillo requiere datos de tráfico.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172968" y="777240"/>
            <a:ext cx="2834640" cy="13258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172968" y="777240"/>
            <a:ext cx="2834640" cy="54864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264408" y="85953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Galerías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264408" y="118872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comerciales urbanas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264408" y="1408176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Cientos en Santiago (20–100 locales).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Fijan precios por m² sin datos de flujo.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144768" y="777240"/>
            <a:ext cx="2834640" cy="13258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144768" y="777240"/>
            <a:ext cx="2834640" cy="54864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236208" y="85953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221 ferias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236208" y="118872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comerciales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236208" y="1408176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 64 sectores y 25 ciudades.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Organizador cobra igual por stands de distinto tráfico.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28600" y="226771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Estado del arte — Homologación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8"/>
          <p:cNvGraphicFramePr/>
          <p:nvPr/>
        </p:nvGraphicFramePr>
        <p:xfrm>
          <a:off x="201168" y="2578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{4DFD5048-081D-428E-B775-340250D7F2EF}</a:tableStyleId>
              </a:tblPr>
              <a:tblGrid>
                <a:gridCol w="1920250"/>
                <a:gridCol w="1700775"/>
                <a:gridCol w="1700775"/>
                <a:gridCol w="1700775"/>
                <a:gridCol w="17007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Atributo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FlowSense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RetailNext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FootfallCam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Placer.ai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 adicional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— celular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— cámaras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— sensores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(GPS)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Zona interna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— por usuario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(exterior)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Orientado a arriendo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— propósito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estimado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Accesible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USD $5K–50K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USD $2K–20K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$500+/mes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62" name="Google Shape;162;p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TELECOMUNICACIONES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1E1E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lang="en-US" sz="4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394960" y="1828800"/>
            <a:ext cx="3566160" cy="15087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394960" y="1828800"/>
            <a:ext cx="164592" cy="164592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486400" y="192024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228600" y="20116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4. Metodología — Scrum  ·  Ciclo de vida iterativo-incremental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201168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adopta Scrum bajo ciclo de vida iterativo-incremental: el sistema es evaluable desde Sprint 2 (video + detección + conteo), cada sprint agrega capacidades verificables. Standups diarios por mensaje; Reviews en videollamada 20 min.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201168" y="1371600"/>
            <a:ext cx="1664208" cy="146304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246888" y="1426464"/>
            <a:ext cx="157276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 + YOLOv8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MySQL + Figma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Video demo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0"/>
          <p:cNvCxnSpPr/>
          <p:nvPr/>
        </p:nvCxnSpPr>
        <p:spPr>
          <a:xfrm>
            <a:off x="1865376" y="2103120"/>
            <a:ext cx="91440" cy="0"/>
          </a:xfrm>
          <a:prstGeom prst="straightConnector1">
            <a:avLst/>
          </a:prstGeom>
          <a:noFill/>
          <a:ln cap="flat" cmpd="sng" w="1905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0"/>
          <p:cNvSpPr/>
          <p:nvPr/>
        </p:nvSpPr>
        <p:spPr>
          <a:xfrm>
            <a:off x="1956816" y="1371600"/>
            <a:ext cx="1664208" cy="146304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2002536" y="1426464"/>
            <a:ext cx="157276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Pipeline Python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 Spring Boot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3621024" y="2103120"/>
            <a:ext cx="91440" cy="0"/>
          </a:xfrm>
          <a:prstGeom prst="straightConnector1">
            <a:avLst/>
          </a:prstGeom>
          <a:noFill/>
          <a:ln cap="flat" cmpd="sng" w="1905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/>
          <p:nvPr/>
        </p:nvSpPr>
        <p:spPr>
          <a:xfrm>
            <a:off x="3712464" y="1371600"/>
            <a:ext cx="1664208" cy="146304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3758184" y="1426464"/>
            <a:ext cx="157276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Frontend React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 Heatmap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 Zonas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0"/>
          <p:cNvCxnSpPr/>
          <p:nvPr/>
        </p:nvCxnSpPr>
        <p:spPr>
          <a:xfrm>
            <a:off x="5376672" y="2103120"/>
            <a:ext cx="91440" cy="0"/>
          </a:xfrm>
          <a:prstGeom prst="straightConnector1">
            <a:avLst/>
          </a:prstGeom>
          <a:noFill/>
          <a:ln cap="flat" cmpd="sng" w="1905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0"/>
          <p:cNvSpPr/>
          <p:nvPr/>
        </p:nvSpPr>
        <p:spPr>
          <a:xfrm>
            <a:off x="5468112" y="1371600"/>
            <a:ext cx="1664208" cy="146304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513832" y="1426464"/>
            <a:ext cx="157276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Sprint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 Admin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 E2E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10"/>
          <p:cNvCxnSpPr/>
          <p:nvPr/>
        </p:nvCxnSpPr>
        <p:spPr>
          <a:xfrm>
            <a:off x="7132320" y="2103120"/>
            <a:ext cx="91440" cy="0"/>
          </a:xfrm>
          <a:prstGeom prst="straightConnector1">
            <a:avLst/>
          </a:prstGeom>
          <a:noFill/>
          <a:ln cap="flat" cmpd="sng" w="1905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10"/>
          <p:cNvSpPr/>
          <p:nvPr/>
        </p:nvSpPr>
        <p:spPr>
          <a:xfrm>
            <a:off x="7223760" y="1371600"/>
            <a:ext cx="1664208" cy="146304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7269480" y="1426464"/>
            <a:ext cx="157276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Sprint 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Doc + Demo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 Presentación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201168" y="29626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Roles del equipo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201168" y="3291840"/>
            <a:ext cx="2834640" cy="82296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292608" y="33375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292608" y="35661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Integrante 3  ·  MySQL · Docs · GitHub Projects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3172968" y="3291840"/>
            <a:ext cx="2834640" cy="82296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264408" y="33375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3264408" y="35661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Integrante 2  ·  Python · Spring Boot · Railway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144768" y="3291840"/>
            <a:ext cx="2834640" cy="82296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236208" y="33375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236208" y="35661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Integrante 1  ·  React · heatmap.js · recharts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TELECOMUNICACIONES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1E1E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lang="en-US" sz="4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394960" y="1828800"/>
            <a:ext cx="3566160" cy="15087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394960" y="1828800"/>
            <a:ext cx="164592" cy="164592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486400" y="192024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técnica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la solución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/>
          <p:nvPr/>
        </p:nvSpPr>
        <p:spPr>
          <a:xfrm>
            <a:off x="201168" y="685800"/>
            <a:ext cx="8723376" cy="4091940"/>
          </a:xfrm>
          <a:prstGeom prst="rect">
            <a:avLst/>
          </a:prstGeom>
          <a:solidFill>
            <a:srgbClr val="4078F6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228600" y="20116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5. Descripción técnica — Arquitectura de 4 capas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201168" y="4773168"/>
            <a:ext cx="8723376" cy="201168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E8D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320040" y="4782312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A0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A4A00"/>
                </a:solidFill>
                <a:latin typeface="Calibri"/>
                <a:ea typeface="Calibri"/>
                <a:cs typeface="Calibri"/>
                <a:sym typeface="Calibri"/>
              </a:rPr>
              <a:t>Patrón de comunicación Python → Spring Boot:  archivo CSV local  (elimina complejidad de drivers; Spring Boot lee e inserta en MySQL)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TELECOMUNICACIONES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1E1E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7712" y="658368"/>
            <a:ext cx="4737193" cy="403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228600" y="658368"/>
            <a:ext cx="8686800" cy="4302252"/>
          </a:xfrm>
          <a:prstGeom prst="rect">
            <a:avLst/>
          </a:prstGeom>
          <a:solidFill>
            <a:srgbClr val="4078F6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228600" y="20116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5. Descripción técnica — Flujo de datos (8 pasos)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TELECOMUNICACIONES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1E1E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3"/>
          <p:cNvPicPr preferRelativeResize="0"/>
          <p:nvPr/>
        </p:nvPicPr>
        <p:blipFill rotWithShape="1">
          <a:blip r:embed="rId3">
            <a:alphaModFix/>
          </a:blip>
          <a:srcRect b="13882" l="0" r="0" t="0"/>
          <a:stretch/>
        </p:blipFill>
        <p:spPr>
          <a:xfrm>
            <a:off x="2570700" y="742775"/>
            <a:ext cx="3700249" cy="421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0" y="20116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lang="en-US" sz="4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5394960" y="1828800"/>
            <a:ext cx="3566160" cy="15087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5394960" y="1828800"/>
            <a:ext cx="164592" cy="164592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5486400" y="192024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 Evidencias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228600" y="20116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6. Documentación — Evidencias del proyecto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201168" y="822960"/>
            <a:ext cx="4297680" cy="1234440"/>
          </a:xfrm>
          <a:prstGeom prst="rect">
            <a:avLst/>
          </a:prstGeom>
          <a:solidFill>
            <a:srgbClr val="F5F8FF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201168" y="822960"/>
            <a:ext cx="54864" cy="123444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310896" y="914400"/>
            <a:ext cx="502920" cy="228600"/>
          </a:xfrm>
          <a:prstGeom prst="rect">
            <a:avLst/>
          </a:prstGeom>
          <a:solidFill>
            <a:srgbClr val="3D70D6"/>
          </a:solidFill>
          <a:ln cap="flat" cmpd="sng" w="12700">
            <a:solidFill>
              <a:srgbClr val="3D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310896" y="91440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EV-01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877824" y="9144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Documento de registro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310896" y="120700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Documento completo con 10 secciones: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Contexto, metodología, descripción técnica,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plan de trabajo, HU, evidencias.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310896" y="1847088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0D6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3D70D6"/>
                </a:solidFill>
                <a:latin typeface="Calibri"/>
                <a:ea typeface="Calibri"/>
                <a:cs typeface="Calibri"/>
                <a:sym typeface="Calibri"/>
              </a:rPr>
              <a:t>Semana 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201168" y="2194560"/>
            <a:ext cx="4297680" cy="1234440"/>
          </a:xfrm>
          <a:prstGeom prst="rect">
            <a:avLst/>
          </a:prstGeom>
          <a:solidFill>
            <a:srgbClr val="F5F8FF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201168" y="2194560"/>
            <a:ext cx="54864" cy="1234440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310896" y="2286000"/>
            <a:ext cx="502920" cy="228600"/>
          </a:xfrm>
          <a:prstGeom prst="rect">
            <a:avLst/>
          </a:prstGeom>
          <a:solidFill>
            <a:srgbClr val="0D7C5F"/>
          </a:solidFill>
          <a:ln cap="flat" cmpd="sng" w="12700">
            <a:solidFill>
              <a:srgbClr val="0D7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310896" y="228600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EV-02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877824" y="22860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Prototipo UX/UI Figma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310896" y="257860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 pantallas: subida video, editor zonas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drag&amp;drop, mapa de calor, dashboard de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métricas comparativas.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310896" y="3218688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C5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0D7C5F"/>
                </a:solidFill>
                <a:latin typeface="Calibri"/>
                <a:ea typeface="Calibri"/>
                <a:cs typeface="Calibri"/>
                <a:sym typeface="Calibri"/>
              </a:rPr>
              <a:t>Semana 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201168" y="3566160"/>
            <a:ext cx="4297680" cy="1234440"/>
          </a:xfrm>
          <a:prstGeom prst="rect">
            <a:avLst/>
          </a:prstGeom>
          <a:solidFill>
            <a:srgbClr val="F5F8FF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201168" y="3566160"/>
            <a:ext cx="54864" cy="1234440"/>
          </a:xfrm>
          <a:prstGeom prst="rect">
            <a:avLst/>
          </a:prstGeom>
          <a:solidFill>
            <a:srgbClr val="7B5E00"/>
          </a:solidFill>
          <a:ln cap="flat" cmpd="sng" w="12700">
            <a:solidFill>
              <a:srgbClr val="7B5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310896" y="3657600"/>
            <a:ext cx="502920" cy="228600"/>
          </a:xfrm>
          <a:prstGeom prst="rect">
            <a:avLst/>
          </a:prstGeom>
          <a:solidFill>
            <a:srgbClr val="7B5E00"/>
          </a:solidFill>
          <a:ln cap="flat" cmpd="sng" w="12700">
            <a:solidFill>
              <a:srgbClr val="7B5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310896" y="365760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EV-03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877824" y="36576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Modelo ER MySQL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310896" y="395020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MER con 5 tablas: RECINTOS, ZONAS,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VIDEOS, DETECCIONES, METRICAS.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Claves, tipos y cardinalidades.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310896" y="4590288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5E00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7B5E00"/>
                </a:solidFill>
                <a:latin typeface="Calibri"/>
                <a:ea typeface="Calibri"/>
                <a:cs typeface="Calibri"/>
                <a:sym typeface="Calibri"/>
              </a:rPr>
              <a:t>Semana 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4681728" y="822960"/>
            <a:ext cx="4297680" cy="1234440"/>
          </a:xfrm>
          <a:prstGeom prst="rect">
            <a:avLst/>
          </a:prstGeom>
          <a:solidFill>
            <a:srgbClr val="F5F8FF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4681728" y="822960"/>
            <a:ext cx="54864" cy="123444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4791456" y="914400"/>
            <a:ext cx="502920" cy="22860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4791456" y="91440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EV-04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5358384" y="9144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Código fuente GitHub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4791456" y="120700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Repositorio con: detector.py · Spring Boot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API · React frontend · SQL scripts ·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requirements.txt · README instalación.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4791456" y="1847088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Sprint a Sprint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4681728" y="2194560"/>
            <a:ext cx="4297680" cy="1234440"/>
          </a:xfrm>
          <a:prstGeom prst="rect">
            <a:avLst/>
          </a:prstGeom>
          <a:solidFill>
            <a:srgbClr val="F5F8FF"/>
          </a:solidFill>
          <a:ln cap="flat" cmpd="sng" w="12700">
            <a:solidFill>
              <a:srgbClr val="C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681728" y="2194560"/>
            <a:ext cx="54864" cy="1234440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4791456" y="2286000"/>
            <a:ext cx="502920" cy="228600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4791456" y="228600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EV-05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5358384" y="22860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Informe final + Video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4791456" y="257860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Doc cierre + video demo 3 min: subida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video → procesamiento → mapa de calor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 métricas → reporte PDF.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791456" y="3218688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Semana 17–18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TELECOMUNICACIONES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1E1E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/>
          <p:nvPr/>
        </p:nvSpPr>
        <p:spPr>
          <a:xfrm>
            <a:off x="2743200" y="164592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lang="en-US" sz="5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DuocUC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2286000" y="2560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CERCANÍA. LIDERAZGO. FUTURO.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365760" y="4754880"/>
            <a:ext cx="1280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duoc.cl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6"/>
          <p:cNvCxnSpPr/>
          <p:nvPr/>
        </p:nvCxnSpPr>
        <p:spPr>
          <a:xfrm>
            <a:off x="338328" y="4764024"/>
            <a:ext cx="1335024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6"/>
          <p:cNvCxnSpPr/>
          <p:nvPr/>
        </p:nvCxnSpPr>
        <p:spPr>
          <a:xfrm>
            <a:off x="338328" y="5029200"/>
            <a:ext cx="1335024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6"/>
          <p:cNvSpPr/>
          <p:nvPr/>
        </p:nvSpPr>
        <p:spPr>
          <a:xfrm>
            <a:off x="2011680" y="478231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TELECOMUNICACIONES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2026-03-29T14:50:24Z</dcterms:created>
  <dc:creator>Equipo FlowSense</dc:creator>
</cp:coreProperties>
</file>